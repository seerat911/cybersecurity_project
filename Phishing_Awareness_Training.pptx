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digital_illustration_concept_art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64008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FF4D5E">
              <a:alpha val="88000"/>
            </a:srgbClr>
          </a:solidFill>
          <a:ln w="12700">
            <a:solidFill>
              <a:srgbClr val="FF4D5E">
                <a:alpha val="6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713232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CYBERSECURITY TASK 2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694944" y="1417320"/>
            <a:ext cx="58521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 Awareness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740664" y="3127248"/>
            <a:ext cx="5257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8D6E5"/>
                </a:solidFill>
              </a:rPr>
              <a:t>Recognizing and preventing online scams, fake emails, and fraudulent websites.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9808" y="4160520"/>
            <a:ext cx="1920240" cy="0"/>
          </a:xfrm>
          <a:prstGeom prst="line">
            <a:avLst/>
          </a:prstGeom>
          <a:noFill/>
          <a:ln w="38100">
            <a:solidFill>
              <a:srgbClr val="37D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462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E7FF"/>
                </a:solidFill>
              </a:rPr>
              <a:t>Prepared for internship completion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ose_up_cinematic_high_detail_digital_illustr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Phishing?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A deception-based cyberattack that targets human trust.</a:t>
            </a:r>
            <a:endParaRPr lang="en-US" sz="1380" dirty="0"/>
          </a:p>
        </p:txBody>
      </p:sp>
      <p:sp>
        <p:nvSpPr>
          <p:cNvPr id="5" name="Text 2"/>
          <p:cNvSpPr/>
          <p:nvPr/>
        </p:nvSpPr>
        <p:spPr>
          <a:xfrm>
            <a:off x="777240" y="1508760"/>
            <a:ext cx="6126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Phishing is a cyberattack where attackers use fake emails, messages, websites, or calls to trick people into sharing sensitive information.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04672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8E7FF"/>
                </a:solidFill>
              </a:rPr>
              <a:t>Attackers usually try to steal:</a:t>
            </a:r>
            <a:endParaRPr lang="en-US" sz="1020" dirty="0"/>
          </a:p>
        </p:txBody>
      </p:sp>
      <p:sp>
        <p:nvSpPr>
          <p:cNvPr id="7" name="Shape 4"/>
          <p:cNvSpPr/>
          <p:nvPr/>
        </p:nvSpPr>
        <p:spPr>
          <a:xfrm>
            <a:off x="841248" y="331927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246120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FFFFFF"/>
                </a:solidFill>
              </a:rPr>
              <a:t>Passwords and login credentials</a:t>
            </a:r>
            <a:endParaRPr lang="en-US" sz="1880" dirty="0"/>
          </a:p>
        </p:txBody>
      </p:sp>
      <p:sp>
        <p:nvSpPr>
          <p:cNvPr id="9" name="Shape 6"/>
          <p:cNvSpPr/>
          <p:nvPr/>
        </p:nvSpPr>
        <p:spPr>
          <a:xfrm>
            <a:off x="841248" y="3758184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685032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FFFFFF"/>
                </a:solidFill>
              </a:rPr>
              <a:t>OTP codes and verification links</a:t>
            </a:r>
            <a:endParaRPr lang="en-US" sz="1880" dirty="0"/>
          </a:p>
        </p:txBody>
      </p:sp>
      <p:sp>
        <p:nvSpPr>
          <p:cNvPr id="11" name="Shape 8"/>
          <p:cNvSpPr/>
          <p:nvPr/>
        </p:nvSpPr>
        <p:spPr>
          <a:xfrm>
            <a:off x="841248" y="4197096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4123944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FFFFFF"/>
                </a:solidFill>
              </a:rPr>
              <a:t>Bank or card details</a:t>
            </a:r>
            <a:endParaRPr lang="en-US" sz="1880" dirty="0"/>
          </a:p>
        </p:txBody>
      </p:sp>
      <p:sp>
        <p:nvSpPr>
          <p:cNvPr id="13" name="Shape 10"/>
          <p:cNvSpPr/>
          <p:nvPr/>
        </p:nvSpPr>
        <p:spPr>
          <a:xfrm>
            <a:off x="841248" y="4636008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4562856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FFFFFF"/>
                </a:solidFill>
              </a:rPr>
              <a:t>Personal or company information</a:t>
            </a:r>
            <a:endParaRPr lang="en-US" sz="1880" dirty="0"/>
          </a:p>
        </p:txBody>
      </p:sp>
      <p:sp>
        <p:nvSpPr>
          <p:cNvPr id="15" name="Shape 12"/>
          <p:cNvSpPr/>
          <p:nvPr/>
        </p:nvSpPr>
        <p:spPr>
          <a:xfrm>
            <a:off x="7086600" y="182880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0B1D35"/>
          </a:solidFill>
          <a:ln w="15240">
            <a:solidFill>
              <a:srgbClr val="37D5FF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24344" y="2048256"/>
            <a:ext cx="382219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The attacker does not break the system first - they trick the user first.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tech_cybersecurity_data_protection_batch_4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Phishing is Dangerous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One wrong click can create serious personal and organizational damage.</a:t>
            </a:r>
            <a:endParaRPr lang="en-US" sz="1380" dirty="0"/>
          </a:p>
        </p:txBody>
      </p:sp>
      <p:sp>
        <p:nvSpPr>
          <p:cNvPr id="5" name="Shape 2"/>
          <p:cNvSpPr/>
          <p:nvPr/>
        </p:nvSpPr>
        <p:spPr>
          <a:xfrm>
            <a:off x="777240" y="1536192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0B1D35"/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33272" y="1682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E7FF"/>
                </a:solidFill>
              </a:rPr>
              <a:t>Account takeover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91840" y="1673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D6E5"/>
                </a:solidFill>
              </a:rPr>
              <a:t>Attackers gain access to email, social media, or work accounts.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2679192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0B1D35"/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825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E7FF"/>
                </a:solidFill>
              </a:rPr>
              <a:t>Financial loss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91840" y="2816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D6E5"/>
                </a:solidFill>
              </a:rPr>
              <a:t>Bank details, card data, or OTPs can be stolen.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77240" y="3822192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0B1D35"/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3968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E7FF"/>
                </a:solidFill>
              </a:rPr>
              <a:t>Data leakage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291840" y="3959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D6E5"/>
                </a:solidFill>
              </a:rPr>
              <a:t>Private or company information can be exposed.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77240" y="4965192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0B1D35"/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" y="5111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E7FF"/>
                </a:solidFill>
              </a:rPr>
              <a:t>Malware infection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291840" y="5102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8D6E5"/>
                </a:solidFill>
              </a:rPr>
              <a:t>Fake attachments may install harmful software.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995160" y="1828800"/>
            <a:ext cx="42519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Phishing works because it creates pressure, fear, curiosity, or false trust.</a:t>
            </a:r>
            <a:endParaRPr lang="en-US" sz="2500" dirty="0"/>
          </a:p>
        </p:txBody>
      </p:sp>
      <p:sp>
        <p:nvSpPr>
          <p:cNvPr id="18" name="Shape 15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digital_illustration_concept_art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Types of Phishing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Attackers use different channels, but the goal is usually the same.</a:t>
            </a:r>
            <a:endParaRPr lang="en-US" sz="1380" dirty="0"/>
          </a:p>
        </p:txBody>
      </p:sp>
      <p:sp>
        <p:nvSpPr>
          <p:cNvPr id="5" name="Shape 2"/>
          <p:cNvSpPr/>
          <p:nvPr/>
        </p:nvSpPr>
        <p:spPr>
          <a:xfrm>
            <a:off x="960120" y="141732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102A4D">
              <a:alpha val="97000"/>
            </a:srgbClr>
          </a:solidFill>
          <a:ln w="12700">
            <a:solidFill>
              <a:srgbClr val="37D5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34440" y="1554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8E7FF"/>
                </a:solidFill>
              </a:rPr>
              <a:t>Email Phishing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703320" y="154533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FFFFF"/>
                </a:solidFill>
              </a:rPr>
              <a:t>Fake emails with links or attachments</a:t>
            </a:r>
            <a:endParaRPr lang="en-US" sz="1630" dirty="0"/>
          </a:p>
        </p:txBody>
      </p:sp>
      <p:sp>
        <p:nvSpPr>
          <p:cNvPr id="8" name="Shape 5"/>
          <p:cNvSpPr/>
          <p:nvPr/>
        </p:nvSpPr>
        <p:spPr>
          <a:xfrm>
            <a:off x="960120" y="228600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0B1D35">
              <a:alpha val="97000"/>
            </a:srgbClr>
          </a:solidFill>
          <a:ln w="12700">
            <a:solidFill>
              <a:srgbClr val="37D5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2423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8E7FF"/>
                </a:solidFill>
              </a:rPr>
              <a:t>Smishing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3703320" y="241401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FFFFF"/>
                </a:solidFill>
              </a:rPr>
              <a:t>Phishing through SMS or chat messages</a:t>
            </a:r>
            <a:endParaRPr lang="en-US" sz="1630" dirty="0"/>
          </a:p>
        </p:txBody>
      </p:sp>
      <p:sp>
        <p:nvSpPr>
          <p:cNvPr id="11" name="Shape 8"/>
          <p:cNvSpPr/>
          <p:nvPr/>
        </p:nvSpPr>
        <p:spPr>
          <a:xfrm>
            <a:off x="960120" y="315468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102A4D">
              <a:alpha val="97000"/>
            </a:srgbClr>
          </a:solidFill>
          <a:ln w="12700">
            <a:solidFill>
              <a:srgbClr val="37D5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3291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8E7FF"/>
                </a:solidFill>
              </a:rPr>
              <a:t>Vishing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3703320" y="32826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FFFFF"/>
                </a:solidFill>
              </a:rPr>
              <a:t>Fraud through phone calls</a:t>
            </a:r>
            <a:endParaRPr lang="en-US" sz="1630" dirty="0"/>
          </a:p>
        </p:txBody>
      </p:sp>
      <p:sp>
        <p:nvSpPr>
          <p:cNvPr id="14" name="Shape 11"/>
          <p:cNvSpPr/>
          <p:nvPr/>
        </p:nvSpPr>
        <p:spPr>
          <a:xfrm>
            <a:off x="960120" y="402336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0B1D35">
              <a:alpha val="97000"/>
            </a:srgbClr>
          </a:solidFill>
          <a:ln w="12700">
            <a:solidFill>
              <a:srgbClr val="37D5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8E7FF"/>
                </a:solidFill>
              </a:rPr>
              <a:t>Spear Phishing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3703320" y="415137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FFFFF"/>
                </a:solidFill>
              </a:rPr>
              <a:t>Targeted attack on a specific person</a:t>
            </a:r>
            <a:endParaRPr lang="en-US" sz="1630" dirty="0"/>
          </a:p>
        </p:txBody>
      </p:sp>
      <p:sp>
        <p:nvSpPr>
          <p:cNvPr id="17" name="Shape 14"/>
          <p:cNvSpPr/>
          <p:nvPr/>
        </p:nvSpPr>
        <p:spPr>
          <a:xfrm>
            <a:off x="960120" y="489204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102A4D">
              <a:alpha val="97000"/>
            </a:srgbClr>
          </a:solidFill>
          <a:ln w="12700">
            <a:solidFill>
              <a:srgbClr val="37D5FF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4440" y="5029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8E7FF"/>
                </a:solidFill>
              </a:rPr>
              <a:t>Clone Phishing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3703320" y="502005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FFFFF"/>
                </a:solidFill>
              </a:rPr>
              <a:t>A copied email with a malicious link</a:t>
            </a:r>
            <a:endParaRPr lang="en-US" sz="1630" dirty="0"/>
          </a:p>
        </p:txBody>
      </p:sp>
      <p:sp>
        <p:nvSpPr>
          <p:cNvPr id="20" name="Shape 17"/>
          <p:cNvSpPr/>
          <p:nvPr/>
        </p:nvSpPr>
        <p:spPr>
          <a:xfrm>
            <a:off x="3794760" y="5897880"/>
            <a:ext cx="4663440" cy="329184"/>
          </a:xfrm>
          <a:prstGeom prst="roundRect">
            <a:avLst>
              <a:gd name="adj" fmla="val 16667"/>
            </a:avLst>
          </a:prstGeom>
          <a:solidFill>
            <a:srgbClr val="FF4D5E">
              <a:alpha val="95000"/>
            </a:srgbClr>
          </a:solidFill>
          <a:ln w="12700">
            <a:solidFill>
              <a:srgbClr val="FF4D5E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13632" y="598017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Same goal: steal information or install malware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ose_up_cinematic_high_detail_digital_illustr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Recognize Phishing Emails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Look for warning signs before clicking anything.</a:t>
            </a:r>
            <a:endParaRPr lang="en-US" sz="1380" dirty="0"/>
          </a:p>
        </p:txBody>
      </p:sp>
      <p:sp>
        <p:nvSpPr>
          <p:cNvPr id="5" name="Shape 2"/>
          <p:cNvSpPr/>
          <p:nvPr/>
        </p:nvSpPr>
        <p:spPr>
          <a:xfrm>
            <a:off x="749808" y="15087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7FAFC"/>
          </a:solidFill>
          <a:ln w="12700">
            <a:solidFill>
              <a:srgbClr val="BFD7EA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4128" y="17830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B"/>
                </a:solidFill>
              </a:rPr>
              <a:t>From: security-alert@paypaI-help.com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2148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D5E"/>
                </a:solidFill>
              </a:rPr>
              <a:t>Subject: Your account will be blocked today!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60120" y="2523744"/>
            <a:ext cx="4800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743200"/>
            <a:ext cx="466344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2304F"/>
                </a:solidFill>
              </a:rPr>
              <a:t>Dear User,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2304F"/>
                </a:solidFill>
              </a:rPr>
              <a:t>We detected unusual activity. Click the link below and verify your password and OTP immediately, otherwise your account will be permanently suspended.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2304F"/>
                </a:solidFill>
              </a:rPr>
              <a:t>Verify Now: paypaI-secure-login.com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658368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8E7FF"/>
                </a:solidFill>
              </a:rPr>
              <a:t>Red flags in the email: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629400" y="2011680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5432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</a:rPr>
              <a:t>Suspicious sender address</a:t>
            </a:r>
            <a:endParaRPr lang="en-US" sz="1820" dirty="0"/>
          </a:p>
        </p:txBody>
      </p:sp>
      <p:sp>
        <p:nvSpPr>
          <p:cNvPr id="13" name="Shape 10"/>
          <p:cNvSpPr/>
          <p:nvPr/>
        </p:nvSpPr>
        <p:spPr>
          <a:xfrm>
            <a:off x="6629400" y="249631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85432" y="2423160"/>
            <a:ext cx="4480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</a:rPr>
              <a:t>Urgent pressure or fear</a:t>
            </a:r>
            <a:endParaRPr lang="en-US" sz="1820" dirty="0"/>
          </a:p>
        </p:txBody>
      </p:sp>
      <p:sp>
        <p:nvSpPr>
          <p:cNvPr id="15" name="Shape 12"/>
          <p:cNvSpPr/>
          <p:nvPr/>
        </p:nvSpPr>
        <p:spPr>
          <a:xfrm>
            <a:off x="6629400" y="2980944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2907792"/>
            <a:ext cx="4480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</a:rPr>
              <a:t>Grammar or spelling mistakes</a:t>
            </a:r>
            <a:endParaRPr lang="en-US" sz="1820" dirty="0"/>
          </a:p>
        </p:txBody>
      </p:sp>
      <p:sp>
        <p:nvSpPr>
          <p:cNvPr id="17" name="Shape 14"/>
          <p:cNvSpPr/>
          <p:nvPr/>
        </p:nvSpPr>
        <p:spPr>
          <a:xfrm>
            <a:off x="6629400" y="3465576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85432" y="3392424"/>
            <a:ext cx="4480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</a:rPr>
              <a:t>Unknown link or attachment</a:t>
            </a:r>
            <a:endParaRPr lang="en-US" sz="1820" dirty="0"/>
          </a:p>
        </p:txBody>
      </p:sp>
      <p:sp>
        <p:nvSpPr>
          <p:cNvPr id="19" name="Shape 16"/>
          <p:cNvSpPr/>
          <p:nvPr/>
        </p:nvSpPr>
        <p:spPr>
          <a:xfrm>
            <a:off x="6629400" y="3950208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85432" y="3877056"/>
            <a:ext cx="4480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FFFFF"/>
                </a:solidFill>
              </a:rPr>
              <a:t>Generic greeting like “Dear User”</a:t>
            </a:r>
            <a:endParaRPr lang="en-US" sz="1820" dirty="0"/>
          </a:p>
        </p:txBody>
      </p:sp>
      <p:sp>
        <p:nvSpPr>
          <p:cNvPr id="21" name="Shape 18"/>
          <p:cNvSpPr/>
          <p:nvPr/>
        </p:nvSpPr>
        <p:spPr>
          <a:xfrm>
            <a:off x="6949440" y="5349240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FF4D5E">
              <a:alpha val="95000"/>
            </a:srgbClr>
          </a:solidFill>
          <a:ln w="12700">
            <a:solidFill>
              <a:srgbClr val="FF4D5E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68312" y="5431536"/>
            <a:ext cx="3694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Before you click: verify the sender and URL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uturistic_digital_illustration_graphic_d_batch_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Fake Website Signs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A fake website often looks real, but the URL gives it away.</a:t>
            </a:r>
            <a:endParaRPr lang="en-US" sz="138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F8FAFC"/>
          </a:solidFill>
          <a:ln w="12700">
            <a:solidFill>
              <a:srgbClr val="A7C7E7">
                <a:alpha val="8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1874520"/>
            <a:ext cx="4389120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34440" y="1975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5E"/>
                </a:solidFill>
              </a:rPr>
              <a:t>⚠  https://amaz0n-login-security.com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25880" y="26060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Amazon Account Verification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Enter your email, password, and OTP to continue.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1828800" y="3703320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FF4D5E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381304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Verify Now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1572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8E7FF"/>
                </a:solidFill>
              </a:rPr>
              <a:t>Check these signs: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6446520" y="1975104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03454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885432" y="1956816"/>
            <a:ext cx="4663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Wrong spelling in domain name</a:t>
            </a:r>
            <a:endParaRPr lang="en-US" sz="1720" dirty="0"/>
          </a:p>
        </p:txBody>
      </p:sp>
      <p:sp>
        <p:nvSpPr>
          <p:cNvPr id="16" name="Shape 13"/>
          <p:cNvSpPr/>
          <p:nvPr/>
        </p:nvSpPr>
        <p:spPr>
          <a:xfrm>
            <a:off x="6446520" y="2542032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2601468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85432" y="2523744"/>
            <a:ext cx="4663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No clear company identity</a:t>
            </a:r>
            <a:endParaRPr lang="en-US" sz="1720" dirty="0"/>
          </a:p>
        </p:txBody>
      </p:sp>
      <p:sp>
        <p:nvSpPr>
          <p:cNvPr id="19" name="Shape 16"/>
          <p:cNvSpPr/>
          <p:nvPr/>
        </p:nvSpPr>
        <p:spPr>
          <a:xfrm>
            <a:off x="6446520" y="3108960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1683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885432" y="3090672"/>
            <a:ext cx="4663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Too many pop-ups or pressure</a:t>
            </a:r>
            <a:endParaRPr lang="en-US" sz="1720" dirty="0"/>
          </a:p>
        </p:txBody>
      </p:sp>
      <p:sp>
        <p:nvSpPr>
          <p:cNvPr id="22" name="Shape 19"/>
          <p:cNvSpPr/>
          <p:nvPr/>
        </p:nvSpPr>
        <p:spPr>
          <a:xfrm>
            <a:off x="6446520" y="3675888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373532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885432" y="3657600"/>
            <a:ext cx="4663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Asks for password, OTP, or card data</a:t>
            </a:r>
            <a:endParaRPr lang="en-US" sz="1720" dirty="0"/>
          </a:p>
        </p:txBody>
      </p:sp>
      <p:sp>
        <p:nvSpPr>
          <p:cNvPr id="25" name="Shape 22"/>
          <p:cNvSpPr/>
          <p:nvPr/>
        </p:nvSpPr>
        <p:spPr>
          <a:xfrm>
            <a:off x="6446520" y="4242816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4302252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885432" y="4224528"/>
            <a:ext cx="4663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Looks similar, but URL is not official</a:t>
            </a:r>
            <a:endParaRPr lang="en-US" sz="1720" dirty="0"/>
          </a:p>
        </p:txBody>
      </p:sp>
      <p:sp>
        <p:nvSpPr>
          <p:cNvPr id="28" name="Shape 25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digital_illustration_concept_art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Engineering Tactics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Phishing targets emotions as much as technology.</a:t>
            </a:r>
            <a:endParaRPr lang="en-US" sz="1380" dirty="0"/>
          </a:p>
        </p:txBody>
      </p:sp>
      <p:sp>
        <p:nvSpPr>
          <p:cNvPr id="5" name="Shape 2"/>
          <p:cNvSpPr/>
          <p:nvPr/>
        </p:nvSpPr>
        <p:spPr>
          <a:xfrm>
            <a:off x="960120" y="1517904"/>
            <a:ext cx="4709160" cy="950976"/>
          </a:xfrm>
          <a:prstGeom prst="roundRect">
            <a:avLst>
              <a:gd name="adj" fmla="val 7692"/>
            </a:avLst>
          </a:prstGeom>
          <a:solidFill>
            <a:srgbClr val="102A4D">
              <a:alpha val="98000"/>
            </a:srgbClr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97864" y="1682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E7FF"/>
                </a:solidFill>
              </a:rPr>
              <a:t>Urgency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97480" y="16733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“Your account closes in 24 hours.”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6172200" y="1517904"/>
            <a:ext cx="4709160" cy="950976"/>
          </a:xfrm>
          <a:prstGeom prst="roundRect">
            <a:avLst>
              <a:gd name="adj" fmla="val 7692"/>
            </a:avLst>
          </a:prstGeom>
          <a:solidFill>
            <a:srgbClr val="102A4D">
              <a:alpha val="98000"/>
            </a:srgbClr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1682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E7FF"/>
                </a:solidFill>
              </a:rPr>
              <a:t>Fear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16733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“Your bank account has been hacked.”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960120" y="2871216"/>
            <a:ext cx="4709160" cy="950976"/>
          </a:xfrm>
          <a:prstGeom prst="roundRect">
            <a:avLst>
              <a:gd name="adj" fmla="val 7692"/>
            </a:avLst>
          </a:prstGeom>
          <a:solidFill>
            <a:srgbClr val="0B1D35">
              <a:alpha val="98000"/>
            </a:srgbClr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97864" y="3035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E7FF"/>
                </a:solidFill>
              </a:rPr>
              <a:t>Greed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697480" y="3026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“You won a free iPhone.”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6172200" y="2871216"/>
            <a:ext cx="4709160" cy="950976"/>
          </a:xfrm>
          <a:prstGeom prst="roundRect">
            <a:avLst>
              <a:gd name="adj" fmla="val 7692"/>
            </a:avLst>
          </a:prstGeom>
          <a:solidFill>
            <a:srgbClr val="0B1D35">
              <a:alpha val="98000"/>
            </a:srgbClr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3035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E7FF"/>
                </a:solidFill>
              </a:rPr>
              <a:t>Authority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909560" y="3026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“Message from your manager or bank.”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960120" y="4224528"/>
            <a:ext cx="4709160" cy="950976"/>
          </a:xfrm>
          <a:prstGeom prst="roundRect">
            <a:avLst>
              <a:gd name="adj" fmla="val 7692"/>
            </a:avLst>
          </a:prstGeom>
          <a:solidFill>
            <a:srgbClr val="102A4D">
              <a:alpha val="98000"/>
            </a:srgbClr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7864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E7FF"/>
                </a:solidFill>
              </a:rPr>
              <a:t>Curiosity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697480" y="437997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“See your exam result here.”</a:t>
            </a:r>
            <a:endParaRPr lang="en-US" sz="1420" dirty="0"/>
          </a:p>
        </p:txBody>
      </p:sp>
      <p:sp>
        <p:nvSpPr>
          <p:cNvPr id="20" name="Shape 17"/>
          <p:cNvSpPr/>
          <p:nvPr/>
        </p:nvSpPr>
        <p:spPr>
          <a:xfrm>
            <a:off x="6172200" y="4224528"/>
            <a:ext cx="4709160" cy="950976"/>
          </a:xfrm>
          <a:prstGeom prst="roundRect">
            <a:avLst>
              <a:gd name="adj" fmla="val 7692"/>
            </a:avLst>
          </a:prstGeom>
          <a:solidFill>
            <a:srgbClr val="102A4D">
              <a:alpha val="98000"/>
            </a:srgbClr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9944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E7FF"/>
                </a:solidFill>
              </a:rPr>
              <a:t>Trust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09560" y="437997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Uses a familiar brand or person.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4251960" y="5715000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49E68C">
              <a:alpha val="95000"/>
            </a:srgbClr>
          </a:solidFill>
          <a:ln w="12700">
            <a:solidFill>
              <a:srgbClr val="49E68C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5797296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Rule: slow down before reacting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ose_up_cinematic_high_detail_digital_illustr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Example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Fake bank email asking for login credentials and OTP.</a:t>
            </a:r>
            <a:endParaRPr lang="en-US" sz="1380" dirty="0"/>
          </a:p>
        </p:txBody>
      </p:sp>
      <p:sp>
        <p:nvSpPr>
          <p:cNvPr id="5" name="Text 2"/>
          <p:cNvSpPr/>
          <p:nvPr/>
        </p:nvSpPr>
        <p:spPr>
          <a:xfrm>
            <a:off x="841248" y="1572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8E7FF"/>
                </a:solidFill>
              </a:rPr>
              <a:t>Scenario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841248" y="1874520"/>
            <a:ext cx="53035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A user receives an email claiming that their bank account has been locked. The email asks the user to click a link and enter username, password, and OTP.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41248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8E7FF"/>
                </a:solidFill>
              </a:rPr>
              <a:t>What actually happens?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868680" y="3794760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4712" y="3721608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The website looks similar to the real bank website.</a:t>
            </a:r>
            <a:endParaRPr lang="en-US" sz="1720" dirty="0"/>
          </a:p>
        </p:txBody>
      </p:sp>
      <p:sp>
        <p:nvSpPr>
          <p:cNvPr id="10" name="Shape 7"/>
          <p:cNvSpPr/>
          <p:nvPr/>
        </p:nvSpPr>
        <p:spPr>
          <a:xfrm>
            <a:off x="868680" y="4251960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4178808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The URL is fake.</a:t>
            </a:r>
            <a:endParaRPr lang="en-US" sz="1720" dirty="0"/>
          </a:p>
        </p:txBody>
      </p:sp>
      <p:sp>
        <p:nvSpPr>
          <p:cNvPr id="12" name="Shape 9"/>
          <p:cNvSpPr/>
          <p:nvPr/>
        </p:nvSpPr>
        <p:spPr>
          <a:xfrm>
            <a:off x="868680" y="4709160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4712" y="4636008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The attacker steals login information.</a:t>
            </a:r>
            <a:endParaRPr lang="en-US" sz="1720" dirty="0"/>
          </a:p>
        </p:txBody>
      </p:sp>
      <p:sp>
        <p:nvSpPr>
          <p:cNvPr id="14" name="Shape 11"/>
          <p:cNvSpPr/>
          <p:nvPr/>
        </p:nvSpPr>
        <p:spPr>
          <a:xfrm>
            <a:off x="868680" y="5166360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4712" y="5093208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The user may lose access or money.</a:t>
            </a:r>
            <a:endParaRPr lang="en-US" sz="1720" dirty="0"/>
          </a:p>
        </p:txBody>
      </p:sp>
      <p:sp>
        <p:nvSpPr>
          <p:cNvPr id="16" name="Shape 13"/>
          <p:cNvSpPr/>
          <p:nvPr/>
        </p:nvSpPr>
        <p:spPr>
          <a:xfrm>
            <a:off x="6629400" y="1828800"/>
            <a:ext cx="4434840" cy="2331720"/>
          </a:xfrm>
          <a:prstGeom prst="roundRect">
            <a:avLst>
              <a:gd name="adj" fmla="val 3137"/>
            </a:avLst>
          </a:prstGeom>
          <a:solidFill>
            <a:srgbClr val="0B1D35"/>
          </a:solidFill>
          <a:ln w="15240">
            <a:solidFill>
              <a:srgbClr val="37D5FF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67144" y="2048256"/>
            <a:ext cx="395935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Lesson: never use email links for banking login. Type the official website manually.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543800" y="4709160"/>
            <a:ext cx="2926080" cy="329184"/>
          </a:xfrm>
          <a:prstGeom prst="roundRect">
            <a:avLst>
              <a:gd name="adj" fmla="val 16667"/>
            </a:avLst>
          </a:prstGeom>
          <a:solidFill>
            <a:srgbClr val="FF4D5E">
              <a:alpha val="95000"/>
            </a:srgbClr>
          </a:solidFill>
          <a:ln w="12700">
            <a:solidFill>
              <a:srgbClr val="FF4D5E">
                <a:alpha val="7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62672" y="4791456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Verify first. Click later.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tech_cybersecurity_data_protection_batch_4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Practices to Avoid Phishing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Simple habits can prevent most phishing attacks.</a:t>
            </a:r>
            <a:endParaRPr lang="en-US" sz="1380" dirty="0"/>
          </a:p>
        </p:txBody>
      </p:sp>
      <p:sp>
        <p:nvSpPr>
          <p:cNvPr id="5" name="Shape 2"/>
          <p:cNvSpPr/>
          <p:nvPr/>
        </p:nvSpPr>
        <p:spPr>
          <a:xfrm>
            <a:off x="822960" y="154533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" y="15773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80160" y="150876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Do not click unknown links</a:t>
            </a:r>
            <a:endParaRPr lang="en-US" sz="1720" dirty="0"/>
          </a:p>
        </p:txBody>
      </p:sp>
      <p:sp>
        <p:nvSpPr>
          <p:cNvPr id="8" name="Shape 5"/>
          <p:cNvSpPr/>
          <p:nvPr/>
        </p:nvSpPr>
        <p:spPr>
          <a:xfrm>
            <a:off x="4617720" y="154533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1728" y="15773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74920" y="150876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Check sender email carefully</a:t>
            </a:r>
            <a:endParaRPr lang="en-US" sz="1720" dirty="0"/>
          </a:p>
        </p:txBody>
      </p:sp>
      <p:sp>
        <p:nvSpPr>
          <p:cNvPr id="11" name="Shape 8"/>
          <p:cNvSpPr/>
          <p:nvPr/>
        </p:nvSpPr>
        <p:spPr>
          <a:xfrm>
            <a:off x="8412480" y="154533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6488" y="15773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869680" y="150876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Never share password or OTP</a:t>
            </a:r>
            <a:endParaRPr lang="en-US" sz="1720" dirty="0"/>
          </a:p>
        </p:txBody>
      </p:sp>
      <p:sp>
        <p:nvSpPr>
          <p:cNvPr id="14" name="Shape 11"/>
          <p:cNvSpPr/>
          <p:nvPr/>
        </p:nvSpPr>
        <p:spPr>
          <a:xfrm>
            <a:off x="822960" y="287121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29032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80160" y="283464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Avoid unknown attachments</a:t>
            </a:r>
            <a:endParaRPr lang="en-US" sz="1720" dirty="0"/>
          </a:p>
        </p:txBody>
      </p:sp>
      <p:sp>
        <p:nvSpPr>
          <p:cNvPr id="17" name="Shape 14"/>
          <p:cNvSpPr/>
          <p:nvPr/>
        </p:nvSpPr>
        <p:spPr>
          <a:xfrm>
            <a:off x="4617720" y="287121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81728" y="29032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74920" y="283464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Use official websites manually</a:t>
            </a:r>
            <a:endParaRPr lang="en-US" sz="1720" dirty="0"/>
          </a:p>
        </p:txBody>
      </p:sp>
      <p:sp>
        <p:nvSpPr>
          <p:cNvPr id="20" name="Shape 17"/>
          <p:cNvSpPr/>
          <p:nvPr/>
        </p:nvSpPr>
        <p:spPr>
          <a:xfrm>
            <a:off x="8412480" y="287121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76488" y="29032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869680" y="283464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Enable two-factor authentication</a:t>
            </a:r>
            <a:endParaRPr lang="en-US" sz="1720" dirty="0"/>
          </a:p>
        </p:txBody>
      </p:sp>
      <p:sp>
        <p:nvSpPr>
          <p:cNvPr id="23" name="Shape 20"/>
          <p:cNvSpPr/>
          <p:nvPr/>
        </p:nvSpPr>
        <p:spPr>
          <a:xfrm>
            <a:off x="822960" y="419709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6968" y="42291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280160" y="416052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Use strong unique passwords</a:t>
            </a:r>
            <a:endParaRPr lang="en-US" sz="1720" dirty="0"/>
          </a:p>
        </p:txBody>
      </p:sp>
      <p:sp>
        <p:nvSpPr>
          <p:cNvPr id="26" name="Shape 23"/>
          <p:cNvSpPr/>
          <p:nvPr/>
        </p:nvSpPr>
        <p:spPr>
          <a:xfrm>
            <a:off x="4617720" y="419709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1728" y="42291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74920" y="416052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Keep browser and antivirus updated</a:t>
            </a:r>
            <a:endParaRPr lang="en-US" sz="1720" dirty="0"/>
          </a:p>
        </p:txBody>
      </p:sp>
      <p:sp>
        <p:nvSpPr>
          <p:cNvPr id="29" name="Shape 26"/>
          <p:cNvSpPr/>
          <p:nvPr/>
        </p:nvSpPr>
        <p:spPr>
          <a:xfrm>
            <a:off x="8412480" y="4197096"/>
            <a:ext cx="310896" cy="310896"/>
          </a:xfrm>
          <a:prstGeom prst="ellipse">
            <a:avLst/>
          </a:prstGeom>
          <a:solidFill>
            <a:srgbClr val="49E68C"/>
          </a:solidFill>
          <a:ln w="12700">
            <a:solidFill>
              <a:srgbClr val="49E6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76488" y="42291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01F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869680" y="4160520"/>
            <a:ext cx="290779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</a:rPr>
              <a:t>Report suspicious emails</a:t>
            </a:r>
            <a:endParaRPr lang="en-US" sz="1720" dirty="0"/>
          </a:p>
        </p:txBody>
      </p:sp>
      <p:sp>
        <p:nvSpPr>
          <p:cNvPr id="32" name="Shape 29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uturistic_digital_illustration_graphic_d_batch_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Do After Clicking a Phishing Link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Fast action can reduce the damage.</a:t>
            </a:r>
            <a:endParaRPr lang="en-US" sz="1380" dirty="0"/>
          </a:p>
        </p:txBody>
      </p:sp>
      <p:sp>
        <p:nvSpPr>
          <p:cNvPr id="5" name="Shape 2"/>
          <p:cNvSpPr/>
          <p:nvPr/>
        </p:nvSpPr>
        <p:spPr>
          <a:xfrm>
            <a:off x="960120" y="1490472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549908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399032" y="1472184"/>
            <a:ext cx="9966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Change your password immediately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60120" y="2103120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16255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399032" y="2084832"/>
            <a:ext cx="9966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Enable two-factor authentication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60120" y="2715768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277520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399032" y="2697480"/>
            <a:ext cx="9966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Scan your device for malware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960120" y="3328416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3387852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399032" y="3310128"/>
            <a:ext cx="9966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Check account activity and sessions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960120" y="3941064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00050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5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399032" y="3922776"/>
            <a:ext cx="9966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Inform your bank, company, or support team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960120" y="4553712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4613148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399032" y="4535424"/>
            <a:ext cx="9966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Report the phishing message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960120" y="5166360"/>
            <a:ext cx="301752" cy="301752"/>
          </a:xfrm>
          <a:prstGeom prst="ellipse">
            <a:avLst/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52257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101F"/>
                </a:solidFill>
              </a:rPr>
              <a:t>7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399032" y="5148072"/>
            <a:ext cx="9966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Change reused passwords on other sites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7315200" y="5742432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F4D5E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0" y="5870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Do not ignore it - act quickly.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tech_cybersecurity_data_protection_batch_4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47472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Quiz Activity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3232" y="896112"/>
            <a:ext cx="8046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78E7FF"/>
                </a:solidFill>
              </a:rPr>
              <a:t>A short quiz checks understanding after the training.</a:t>
            </a:r>
            <a:endParaRPr lang="en-US" sz="1380" dirty="0"/>
          </a:p>
        </p:txBody>
      </p:sp>
      <p:sp>
        <p:nvSpPr>
          <p:cNvPr id="5" name="Text 2"/>
          <p:cNvSpPr/>
          <p:nvPr/>
        </p:nvSpPr>
        <p:spPr>
          <a:xfrm>
            <a:off x="868680" y="15727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quiz format: 10 MCQs in Google Forms.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96112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8E7FF"/>
                </a:solidFill>
              </a:rPr>
              <a:t>Quiz topics</a:t>
            </a:r>
            <a:endParaRPr lang="en-US" sz="1020" dirty="0"/>
          </a:p>
        </p:txBody>
      </p:sp>
      <p:sp>
        <p:nvSpPr>
          <p:cNvPr id="7" name="Shape 4"/>
          <p:cNvSpPr/>
          <p:nvPr/>
        </p:nvSpPr>
        <p:spPr>
          <a:xfrm>
            <a:off x="914400" y="272491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Purpose of phishing attacks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914400" y="318211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3108960"/>
            <a:ext cx="5120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Signs of phishing emails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914400" y="363931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3566160"/>
            <a:ext cx="5120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Fake website identification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914400" y="409651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4023360"/>
            <a:ext cx="5120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Social engineering tricks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914400" y="455371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4480560"/>
            <a:ext cx="5120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Safe online behavior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6903720" y="17830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0B1D35"/>
          </a:solidFill>
          <a:ln w="12700">
            <a:solidFill>
              <a:srgbClr val="37D5FF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05472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E7FF"/>
                </a:solidFill>
              </a:rPr>
              <a:t>Sample Question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05472" y="2578608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What should you check first before logging in to a website from an email link?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05472" y="3456432"/>
            <a:ext cx="32461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C8D6E5"/>
                </a:solidFill>
              </a:rPr>
              <a:t>A. Background color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C8D6E5"/>
                </a:solidFill>
              </a:rPr>
              <a:t>B. URL / domain name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C8D6E5"/>
                </a:solidFill>
              </a:rPr>
              <a:t>C. Font size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C8D6E5"/>
                </a:solidFill>
              </a:rPr>
              <a:t>D. Image quality</a:t>
            </a:r>
            <a:endParaRPr lang="en-US" sz="1460" dirty="0"/>
          </a:p>
        </p:txBody>
      </p:sp>
      <p:sp>
        <p:nvSpPr>
          <p:cNvPr id="21" name="Shape 18"/>
          <p:cNvSpPr/>
          <p:nvPr/>
        </p:nvSpPr>
        <p:spPr>
          <a:xfrm>
            <a:off x="7662672" y="4617720"/>
            <a:ext cx="2468880" cy="329184"/>
          </a:xfrm>
          <a:prstGeom prst="roundRect">
            <a:avLst>
              <a:gd name="adj" fmla="val 16667"/>
            </a:avLst>
          </a:prstGeom>
          <a:solidFill>
            <a:srgbClr val="49E68C">
              <a:alpha val="95000"/>
            </a:srgbClr>
          </a:solidFill>
          <a:ln w="12700">
            <a:solidFill>
              <a:srgbClr val="49E68C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81544" y="470001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Correct answer: B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digital_illustration_concept_art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914400"/>
            <a:ext cx="4572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49808" y="1920240"/>
            <a:ext cx="5532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Phishing attacks are common, but awareness and careful verification can prevent most incidents.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95528" y="331927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3246120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Verify sender and domain before clicking.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95528" y="382219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3749040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Do not share passwords, OTPs, or sensitive data.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795528" y="4325112"/>
            <a:ext cx="118872" cy="118872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4251960"/>
            <a:ext cx="53035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Report suspicious emails and act quickly if exposed.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22960" y="5257800"/>
            <a:ext cx="3840480" cy="329184"/>
          </a:xfrm>
          <a:prstGeom prst="roundRect">
            <a:avLst>
              <a:gd name="adj" fmla="val 16667"/>
            </a:avLst>
          </a:prstGeom>
          <a:solidFill>
            <a:srgbClr val="37D5FF">
              <a:alpha val="95000"/>
            </a:srgbClr>
          </a:solidFill>
          <a:ln w="12700">
            <a:solidFill>
              <a:srgbClr val="37D5FF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5340096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Stay alert. Think before you click.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06640" y="5074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Thank You</a:t>
            </a:r>
            <a:endParaRPr lang="en-US" sz="3100" dirty="0"/>
          </a:p>
        </p:txBody>
      </p:sp>
      <p:sp>
        <p:nvSpPr>
          <p:cNvPr id="14" name="Shape 11"/>
          <p:cNvSpPr/>
          <p:nvPr/>
        </p:nvSpPr>
        <p:spPr>
          <a:xfrm>
            <a:off x="685800" y="6428232"/>
            <a:ext cx="10835640" cy="0"/>
          </a:xfrm>
          <a:prstGeom prst="line">
            <a:avLst/>
          </a:prstGeom>
          <a:noFill/>
          <a:ln w="12700">
            <a:solidFill>
              <a:srgbClr val="37D5FF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6492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F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Awareness Training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D5FF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Cybersecurity Internship Task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Phishing Awareness Training</dc:subject>
  <dc:creator>OpenAI</dc:creator>
  <cp:lastModifiedBy>OpenAI</cp:lastModifiedBy>
  <cp:revision>1</cp:revision>
  <dcterms:created xsi:type="dcterms:W3CDTF">2026-06-07T05:52:51Z</dcterms:created>
  <dcterms:modified xsi:type="dcterms:W3CDTF">2026-06-07T05:52:51Z</dcterms:modified>
</cp:coreProperties>
</file>